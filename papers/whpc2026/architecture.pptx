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91440" bIns="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GridPilot: Real-Time Grid-Responsive Control for AI Supercomputers</a:t>
            </a:r>
          </a:p>
          <a:p>
            <a:pPr algn="l"/>
            <a:r>
              <a:rPr sz="1200" i="1">
                <a:solidFill>
                  <a:srgbClr val="DDE6F2"/>
                </a:solidFill>
                <a:latin typeface="Calibri"/>
              </a:rPr>
              <a:t>Three control layers + an isolated 'safety island' that bypasses slow software for fast grid response.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1188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555555"/>
                </a:solidFill>
                <a:latin typeface="Calibri"/>
              </a:rPr>
              <a:t>Tier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555555"/>
                </a:solidFill>
                <a:latin typeface="Calibri"/>
              </a:rPr>
              <a:t>Tier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555555"/>
                </a:solidFill>
                <a:latin typeface="Calibri"/>
              </a:rP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555555"/>
                </a:solidFill>
                <a:latin typeface="Calibri"/>
              </a:rPr>
              <a:t>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143000"/>
            <a:ext cx="6858000" cy="914400"/>
          </a:xfrm>
          <a:prstGeom prst="roundRect">
            <a:avLst/>
          </a:prstGeom>
          <a:solidFill>
            <a:srgbClr val="E5C5C0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Cluster operating-point selector  (hourly)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Picks a target IT power that meets the grid commitment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at the meter --- includes the cooling-overhead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331720"/>
            <a:ext cx="6858000" cy="914400"/>
          </a:xfrm>
          <a:prstGeom prst="roundRect">
            <a:avLst/>
          </a:prstGeom>
          <a:solidFill>
            <a:srgbClr val="D8EBCD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Per-host coordinator  (1 Hz)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Predicts workload power one second ahead;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splits the host envelope across GPUs.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520440"/>
            <a:ext cx="6858000" cy="914400"/>
          </a:xfrm>
          <a:prstGeom prst="roundRect">
            <a:avLst/>
          </a:prstGeom>
          <a:solidFill>
            <a:srgbClr val="C8DCF0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Per-GPU power-cap loop  (200 Hz)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Standard PID; tracks the assigned per-GPU power target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via the NVIDIA Management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892040"/>
            <a:ext cx="6858000" cy="914400"/>
          </a:xfrm>
          <a:prstGeom prst="roundRect">
            <a:avLst/>
          </a:prstGeom>
          <a:solidFill>
            <a:srgbClr val="CFCFD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GPU silicon + facility cooling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Power swings settle on the GPU board within ~20 ms;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facility meter reflects them within ~90 ms total.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057400"/>
            <a:ext cx="0" cy="2743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3246120"/>
            <a:ext cx="0" cy="27432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4434840"/>
            <a:ext cx="0" cy="45720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03920" y="1143000"/>
            <a:ext cx="3291840" cy="914400"/>
          </a:xfrm>
          <a:prstGeom prst="roundRect">
            <a:avLst/>
          </a:prstGeom>
          <a:solidFill>
            <a:srgbClr val="CFCFD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Electricity grid</a:t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frequency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108960"/>
            <a:ext cx="3291840" cy="1280160"/>
          </a:xfrm>
          <a:prstGeom prst="roundRect">
            <a:avLst/>
          </a:prstGeom>
          <a:solidFill>
            <a:srgbClr val="FAE6C8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Safety island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(real-time C bypass)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Reads the grid trigger and pushes a new GPU power cap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directly --- skipping the slower software path.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49840" y="2057400"/>
            <a:ext cx="0" cy="1051560"/>
          </a:xfrm>
          <a:prstGeom prst="line">
            <a:avLst/>
          </a:prstGeom>
          <a:ln w="19050">
            <a:solidFill>
              <a:srgbClr val="B8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49840" y="4389120"/>
            <a:ext cx="0" cy="502920"/>
          </a:xfrm>
          <a:prstGeom prst="line">
            <a:avLst/>
          </a:prstGeom>
          <a:ln w="19050">
            <a:solidFill>
              <a:srgbClr val="B8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092440" y="5349240"/>
            <a:ext cx="411480" cy="0"/>
          </a:xfrm>
          <a:prstGeom prst="line">
            <a:avLst/>
          </a:prstGeom>
          <a:ln w="19050">
            <a:solidFill>
              <a:srgbClr val="B8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3272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83A3A"/>
                </a:solidFill>
                <a:latin typeface="Calibri"/>
              </a:rPr>
              <a:t>trigger (UDP)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B83A3A"/>
                </a:solidFill>
                <a:latin typeface="Calibri"/>
              </a:rPr>
              <a:t>~ 97 ms median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5989320"/>
            <a:ext cx="10607040" cy="411480"/>
          </a:xfrm>
          <a:prstGeom prst="rect">
            <a:avLst/>
          </a:prstGeom>
          <a:solidFill>
            <a:srgbClr val="F6ECEB"/>
          </a:solidFill>
          <a:ln w="9525"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1">
                <a:solidFill>
                  <a:srgbClr val="B83A3A"/>
                </a:solidFill>
                <a:latin typeface="Calibri"/>
              </a:rPr>
              <a:t>Measured end-to-end response: 97 ms median (101 ms worst case across 90 trials)  ---  about 7x faster than the Nordic Fast Frequency Reserve 700 ms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Acronyms used in this slide:  PID = Proportional-Integral-Derivative controller  ·  GPU = Graphics Processing Unit  ·  PUE = Power Usage Effectiveness  ·  FFR = Fast Frequency Reserve.  Diagram is illustrative; the controller is open-source under 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