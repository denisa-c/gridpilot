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91440" bIns="0"/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f-SLA: Eliciting User Flexibility for Carbon-Free Supercomputing</a:t>
            </a:r>
          </a:p>
          <a:p>
            <a:pPr algn="l"/>
            <a:r>
              <a:rPr sz="1200" i="1">
                <a:solidFill>
                  <a:srgbClr val="DDE6F2"/>
                </a:solidFill>
                <a:latin typeface="Calibri"/>
              </a:rPr>
              <a:t>An AI baseline predicts what the user will choose; the user picks a tier; the scheduler shifts the job to a clean hour.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212080" cy="1280160"/>
          </a:xfrm>
          <a:prstGeom prst="roundRect">
            <a:avLst/>
          </a:prstGeom>
          <a:solidFill>
            <a:srgbClr val="C8DCF0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User submits a job</a:t>
            </a:r>
          </a:p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and picks a tier on a 4-step ladder:</a:t>
            </a:r>
          </a:p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T0 rigid · T1 hour · T2 day · T3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097280"/>
            <a:ext cx="5212080" cy="1280160"/>
          </a:xfrm>
          <a:prstGeom prst="roundRect">
            <a:avLst/>
          </a:prstGeom>
          <a:solidFill>
            <a:srgbClr val="FAE6C8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AI baseline (per-user predictor)</a:t>
            </a:r>
          </a:p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shows the user the tier the AI expects;</a:t>
            </a:r>
          </a:p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the user beats the AI to earn credit and rank.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11247120" cy="1005840"/>
          </a:xfrm>
          <a:prstGeom prst="roundRect">
            <a:avLst/>
          </a:prstGeom>
          <a:solidFill>
            <a:srgbClr val="D8EBCD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f-SLA accounting layer  ---  per-user credit ledger  +  leaderboard  +  log of (AI predicted, user declared, actually realised) for every job.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This log is the experimental dataset: it replaces the synthetic tier prior used in this paper's proof-of-concept.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023360"/>
            <a:ext cx="11247120" cy="1097280"/>
          </a:xfrm>
          <a:prstGeom prst="roundRect">
            <a:avLst/>
          </a:prstGeom>
          <a:solidFill>
            <a:srgbClr val="E5C5C0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Carbon-aware scheduler  (any EASY/FCFS-class dispatcher)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Defers each job within the user's declared tier window to a low-CI hour;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the slowdown clause caps the worst-case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40680"/>
            <a:ext cx="11247120" cy="1005840"/>
          </a:xfrm>
          <a:prstGeom prst="roundRect">
            <a:avLst/>
          </a:prstGeom>
          <a:solidFill>
            <a:srgbClr val="CFCFD3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36576" bIns="36576" wrap="square"/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Electricity grid (multi-country evaluation: SE, CH, FR, IT, DE, PL at 1 / 10 / 50 MW)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CFE-lift ranges from +14 pp on a near-decarbonised grid (SE)</a:t>
            </a:r>
          </a:p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down to +3.6 pp on a coal-heavy grid (PL).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2377440"/>
            <a:ext cx="0" cy="32004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00400" y="2395728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declared tier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5669280" y="1737360"/>
            <a:ext cx="822960" cy="0"/>
          </a:xfrm>
          <a:prstGeom prst="line">
            <a:avLst/>
          </a:prstGeom>
          <a:ln w="15875">
            <a:solidFill>
              <a:srgbClr val="5555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0" y="1417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AI prediction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98280" y="2377440"/>
            <a:ext cx="0" cy="32004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0760" y="3703320"/>
            <a:ext cx="0" cy="32004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5120640"/>
            <a:ext cx="0" cy="32004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0" y="64922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B83A3A"/>
                </a:solidFill>
                <a:latin typeface="Calibri"/>
              </a:rPr>
              <a:t>Proof of concept --- numbers are illustrative; the contract is the contribution.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Acronyms used in this slide:  f-SLA = flexible Service-Level Agreement  ·  CFE = Carbon-Free Energy  ·  CI = Carbon Intensity  ·  EASY/FCFS = standard HPC queueing policies.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